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4" r:id="rId5"/>
    <p:sldId id="278" r:id="rId6"/>
    <p:sldId id="257" r:id="rId7"/>
    <p:sldId id="258" r:id="rId8"/>
    <p:sldId id="276" r:id="rId9"/>
    <p:sldId id="259" r:id="rId10"/>
    <p:sldId id="261" r:id="rId11"/>
    <p:sldId id="279" r:id="rId12"/>
    <p:sldId id="262" r:id="rId13"/>
    <p:sldId id="263" r:id="rId14"/>
    <p:sldId id="264" r:id="rId15"/>
    <p:sldId id="267" r:id="rId16"/>
    <p:sldId id="270" r:id="rId17"/>
    <p:sldId id="272" r:id="rId18"/>
    <p:sldId id="269" r:id="rId19"/>
    <p:sldId id="268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46304" cy="146304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Shape 1"/>
          <p:cNvSpPr/>
          <p:nvPr/>
        </p:nvSpPr>
        <p:spPr>
          <a:xfrm>
            <a:off x="841248" y="566928"/>
            <a:ext cx="146304" cy="146304"/>
          </a:xfrm>
          <a:prstGeom prst="ellipse">
            <a:avLst/>
          </a:prstGeom>
          <a:solidFill>
            <a:srgbClr val="3FC1C9"/>
          </a:solidFill>
        </p:spPr>
      </p:sp>
      <p:sp>
        <p:nvSpPr>
          <p:cNvPr id="4" name="Shape 2"/>
          <p:cNvSpPr/>
          <p:nvPr/>
        </p:nvSpPr>
        <p:spPr>
          <a:xfrm>
            <a:off x="1115568" y="566928"/>
            <a:ext cx="146304" cy="146304"/>
          </a:xfrm>
          <a:prstGeom prst="ellipse">
            <a:avLst/>
          </a:prstGeom>
          <a:solidFill>
            <a:srgbClr val="9B7BF5"/>
          </a:solidFill>
        </p:spPr>
      </p:sp>
      <p:sp>
        <p:nvSpPr>
          <p:cNvPr id="5" name="Text 3"/>
          <p:cNvSpPr/>
          <p:nvPr/>
        </p:nvSpPr>
        <p:spPr>
          <a:xfrm>
            <a:off x="1508760" y="475488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进阶式挑战性综合项目 III ｜ 具身智能系统集成与审计（Physical AI）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具身智能导论、系统架构与上位机接入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先求证、再信任 ——— 你的车，这学期要听懂人话了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520440"/>
            <a:ext cx="4754880" cy="0"/>
          </a:xfrm>
          <a:prstGeom prst="line">
            <a:avLst/>
          </a:prstGeom>
          <a:noFill/>
          <a:ln w="12700">
            <a:solidFill>
              <a:srgbClr val="31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第1课｜交付：《接口契约表》实测签核 ＋ 具身系统架构框图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224528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4学时 · 约180分钟｜理论讲解 75 · 动手实测 90 · 对账收尾 15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5047488"/>
            <a:ext cx="128016" cy="128016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2" name="Text 10"/>
          <p:cNvSpPr/>
          <p:nvPr/>
        </p:nvSpPr>
        <p:spPr>
          <a:xfrm>
            <a:off x="813816" y="495604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本体构建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59152" y="4956048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43200" y="5047488"/>
            <a:ext cx="128016" cy="128016"/>
          </a:xfrm>
          <a:prstGeom prst="ellipse">
            <a:avLst/>
          </a:prstGeom>
          <a:solidFill>
            <a:srgbClr val="3FC1C9"/>
          </a:solidFill>
        </p:spPr>
      </p:sp>
      <p:sp>
        <p:nvSpPr>
          <p:cNvPr id="15" name="Text 13"/>
          <p:cNvSpPr/>
          <p:nvPr/>
        </p:nvSpPr>
        <p:spPr>
          <a:xfrm>
            <a:off x="2962656" y="495604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算法验证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07992" y="4956048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92040" y="5047488"/>
            <a:ext cx="128016" cy="128016"/>
          </a:xfrm>
          <a:prstGeom prst="ellipse">
            <a:avLst/>
          </a:prstGeom>
          <a:solidFill>
            <a:srgbClr val="9B7BF5"/>
          </a:solidFill>
        </p:spPr>
      </p:sp>
      <p:sp>
        <p:nvSpPr>
          <p:cNvPr id="18" name="Text 16"/>
          <p:cNvSpPr/>
          <p:nvPr/>
        </p:nvSpPr>
        <p:spPr>
          <a:xfrm>
            <a:off x="5111496" y="495604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具身闭环（本学期）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本课审计训练点（GR5·工具求证）：契约不是写出来的，是测出来的。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73152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三学期造同一具身体，本课具身落点</a:t>
            </a:r>
            <a:endParaRPr sz="2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0" cy="310896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先求证、再信任</a:t>
            </a:r>
            <a:endParaRPr sz="15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1064240" cy="292608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三学期分工：S1身体 → S2仿真 → S3大脑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本课落点：给大脑盖三层房子、给身体点亮心跳、拉起就绪门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一行算法不写，只做"开工前"准备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lvl="1"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· 交付物加两样：环境就绪门首过回执、《AI使用契约》签立</a:t>
            </a:r>
            <a:endParaRPr sz="16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74552" cy="86868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42573"/>
            <a:ext cx="10835640" cy="241935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PingFang SC" panose="020B0400000000000000" charset="-122"/>
                <a:cs typeface="Calibri"/>
              </a:rPr>
              <a:t>▸ 本</a:t>
            </a:r>
            <a:r>
              <a:rPr lang="zh-CN" sz="1500" b="1">
                <a:solidFill>
                  <a:srgbClr val="FFFFFF"/>
                </a:solidFill>
                <a:latin typeface="Calibri"/>
                <a:ea typeface="PingFang SC" panose="020B0400000000000000" charset="-122"/>
                <a:cs typeface="Calibri"/>
              </a:rPr>
              <a:t>节</a:t>
            </a:r>
            <a:r>
              <a:rPr sz="1500" b="1">
                <a:solidFill>
                  <a:srgbClr val="FFFFFF"/>
                </a:solidFill>
                <a:latin typeface="Calibri"/>
                <a:ea typeface="PingFang SC" panose="020B0400000000000000" charset="-122"/>
                <a:cs typeface="Calibri"/>
              </a:rPr>
              <a:t>课不写算法，只证明大脑有房子、身体有心跳、环境可信。</a:t>
            </a:r>
            <a:endParaRPr sz="1500" b="1">
              <a:solidFill>
                <a:srgbClr val="FFFFFF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进阶式挑战性综合项目 III · 具身智能系统集成与审计</a:t>
            </a:r>
            <a:endParaRPr sz="95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73152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三层脑命名：皮层/小脑/脑干</a:t>
            </a:r>
            <a:endParaRPr sz="2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0" cy="310896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三层具身智能体架构</a:t>
            </a:r>
            <a:endParaRPr sz="15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486400" cy="292608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皮层＝LLM，想/说/规划，聪明但慢爱做梦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小脑＝树莓派，协调动作，实时不思考人生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脑干＝ESP32，最笨但保命，一秒不能停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lvl="1"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· 缩手反射不请示皮层，预铺失效影响域</a:t>
            </a:r>
            <a:endParaRPr sz="16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715000" cy="292608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三层脑架构</a:t>
            </a:r>
            <a:endParaRPr sz="13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2249424"/>
            <a:ext cx="5715000" cy="566928"/>
          </a:xfrm>
          <a:prstGeom prst="roundRect">
            <a:avLst/>
          </a:prstGeom>
          <a:solidFill>
            <a:srgbClr val="E9F5EE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249424"/>
            <a:ext cx="5568696" cy="56692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皮层＝LLM：想/说/规划，聪明但慢爱做梦</a:t>
            </a:r>
            <a:endParaRPr sz="12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640" y="2798064"/>
            <a:ext cx="5715000" cy="40233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147F88"/>
                </a:solidFill>
                <a:latin typeface="Calibri"/>
                <a:ea typeface="PingFang SC" panose="020B0400000000000000" charset="-122"/>
                <a:cs typeface="Calibri"/>
              </a:rPr>
              <a:t>↓</a:t>
            </a:r>
            <a:endParaRPr sz="1500" b="1">
              <a:solidFill>
                <a:srgbClr val="147F88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3163824"/>
            <a:ext cx="5715000" cy="566928"/>
          </a:xfrm>
          <a:prstGeom prst="roundRect">
            <a:avLst/>
          </a:prstGeom>
          <a:solidFill>
            <a:srgbClr val="E9F5EE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163824"/>
            <a:ext cx="5568696" cy="56692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小脑＝树莓派：协调动作，实时不思考人生</a:t>
            </a:r>
            <a:endParaRPr sz="12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3640" y="3712464"/>
            <a:ext cx="5715000" cy="40233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147F88"/>
                </a:solidFill>
                <a:latin typeface="Calibri"/>
                <a:ea typeface="PingFang SC" panose="020B0400000000000000" charset="-122"/>
                <a:cs typeface="Calibri"/>
              </a:rPr>
              <a:t>↓</a:t>
            </a:r>
            <a:endParaRPr sz="1500" b="1">
              <a:solidFill>
                <a:srgbClr val="147F88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4078224"/>
            <a:ext cx="5715000" cy="566928"/>
          </a:xfrm>
          <a:prstGeom prst="roundRect">
            <a:avLst/>
          </a:prstGeom>
          <a:solidFill>
            <a:srgbClr val="E9F5EE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4078224"/>
            <a:ext cx="5568696" cy="56692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脑干＝ESP32：最笨但保命，一秒不能停</a:t>
            </a:r>
            <a:endParaRPr sz="12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4663440"/>
            <a:ext cx="5715000" cy="292608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缩手反射不请示皮层，保命那层最笨最独立</a:t>
            </a:r>
            <a:endParaRPr sz="10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74552" cy="86868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29200"/>
            <a:ext cx="10835640" cy="86868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PingFang SC" panose="020B0400000000000000" charset="-122"/>
                <a:cs typeface="Calibri"/>
              </a:rPr>
              <a:t>▸ 给三层脑起人话名字，保命的那层必须最笨最独立。</a:t>
            </a:r>
            <a:endParaRPr sz="1500" b="1">
              <a:solidFill>
                <a:srgbClr val="FFFFFF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进阶式挑战性综合项目 III · 具身智能系统集成与审计</a:t>
            </a:r>
            <a:endParaRPr sz="95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开学对账 · 起跑线清点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你的车回来了——三学期链条清点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481328"/>
            <a:ext cx="7818120" cy="777240"/>
          </a:xfrm>
          <a:prstGeom prst="roundRect">
            <a:avLst>
              <a:gd name="adj" fmla="val 10588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655064"/>
            <a:ext cx="429768" cy="429768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9" name="Text 7"/>
          <p:cNvSpPr/>
          <p:nvPr/>
        </p:nvSpPr>
        <p:spPr>
          <a:xfrm>
            <a:off x="621792" y="1655064"/>
            <a:ext cx="61264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55448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本体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1847088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自绘载板＋ESP32-S3＋编码器闭环＋IMU＋LD19雷达；micro-ROS三话题接口今天直接复用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68296"/>
            <a:ext cx="7818120" cy="777240"/>
          </a:xfrm>
          <a:prstGeom prst="roundRect">
            <a:avLst>
              <a:gd name="adj" fmla="val 10588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542032"/>
            <a:ext cx="429768" cy="429768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14" name="Text 12"/>
          <p:cNvSpPr/>
          <p:nvPr/>
        </p:nvSpPr>
        <p:spPr>
          <a:xfrm>
            <a:off x="621792" y="2542032"/>
            <a:ext cx="61264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4414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第9课标定参数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2734056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实测轮径 / 轮距——图纸值转360°差±10°，标定后收敛到±3°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7818120" cy="777240"/>
          </a:xfrm>
          <a:prstGeom prst="roundRect">
            <a:avLst>
              <a:gd name="adj" fmla="val 10588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429000"/>
            <a:ext cx="429768" cy="429768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19" name="Text 17"/>
          <p:cNvSpPr/>
          <p:nvPr/>
        </p:nvSpPr>
        <p:spPr>
          <a:xfrm>
            <a:off x="621792" y="3429000"/>
            <a:ext cx="61264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328416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 第10课闭合误差数据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25880" y="3621024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正方形×2圈：系统自报≈0 vs 卷尺量出10~30cm；第3课当建图噪声先验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42232"/>
            <a:ext cx="7818120" cy="777240"/>
          </a:xfrm>
          <a:prstGeom prst="roundRect">
            <a:avLst>
              <a:gd name="adj" fmla="val 10588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315968"/>
            <a:ext cx="429768" cy="429768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24" name="Text 22"/>
          <p:cNvSpPr/>
          <p:nvPr/>
        </p:nvSpPr>
        <p:spPr>
          <a:xfrm>
            <a:off x="621792" y="4315968"/>
            <a:ext cx="61264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215384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参数导出包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25880" y="4507992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slam_toolbox / Nav2 验证过的参数，第3~4课迁移实车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7818120" cy="777240"/>
          </a:xfrm>
          <a:prstGeom prst="roundRect">
            <a:avLst>
              <a:gd name="adj" fmla="val 10588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202936"/>
            <a:ext cx="429768" cy="429768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29" name="Text 27"/>
          <p:cNvSpPr/>
          <p:nvPr/>
        </p:nvSpPr>
        <p:spPr>
          <a:xfrm>
            <a:off x="621792" y="5202936"/>
            <a:ext cx="612648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5102352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三个防自欺检查点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325880" y="5394960"/>
            <a:ext cx="6903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真值-里程计真分叉 ｜ C2 帧序号单调自洽 ｜ C3 断流即冻结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95360" y="1481328"/>
            <a:ext cx="3044952" cy="4315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5A6A85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778240" y="166420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现场抽查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78240" y="2148840"/>
            <a:ext cx="269748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 ＝ ______________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＝ ______________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＝ ______________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带齐数据的组：____ / 17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961888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E9F5EE"/>
          </a:solidFill>
          <a:ln w="9525">
            <a:solidFill>
              <a:srgbClr val="1E8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961888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这三样东西，本学期都会长出实车版：C1 → 第3课定位可信度，C2 → 今天的契约表，C3 → 第10课断流冻结。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学期愿景 · 第12课考场预告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十二周后：具身任务挑战赛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371600"/>
            <a:ext cx="3538728" cy="2212848"/>
          </a:xfrm>
          <a:prstGeom prst="roundRect">
            <a:avLst>
              <a:gd name="adj" fmla="val 3719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47F88"/>
          </a:solidFill>
        </p:spPr>
      </p:sp>
      <p:sp>
        <p:nvSpPr>
          <p:cNvPr id="9" name="Text 7"/>
          <p:cNvSpPr/>
          <p:nvPr/>
        </p:nvSpPr>
        <p:spPr>
          <a:xfrm>
            <a:off x="749808" y="157276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巡检类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01168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“依次去A点和B点，各拍一张照片，汇报每处看到了什么”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29077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考察：多点导航＋VLM场景描述＋汇报与事实相符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6824" y="1371600"/>
            <a:ext cx="3538728" cy="2212848"/>
          </a:xfrm>
          <a:prstGeom prst="roundRect">
            <a:avLst>
              <a:gd name="adj" fmla="val 3719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15727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6446C8"/>
          </a:solidFill>
        </p:spPr>
      </p:sp>
      <p:sp>
        <p:nvSpPr>
          <p:cNvPr id="14" name="Text 12"/>
          <p:cNvSpPr/>
          <p:nvPr/>
        </p:nvSpPr>
        <p:spPr>
          <a:xfrm>
            <a:off x="4507992" y="157276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寻物类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07992" y="201168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“在场地里找到红色水杯，报出它的大概位置”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07992" y="29077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考察：语义地图/巡航搜索＋检测＋空间表达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1371600"/>
            <a:ext cx="3538728" cy="2212848"/>
          </a:xfrm>
          <a:prstGeom prst="roundRect">
            <a:avLst>
              <a:gd name="adj" fmla="val 3719"/>
            </a:avLst>
          </a:prstGeom>
          <a:solidFill>
            <a:srgbClr val="F2F5FA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6176" y="15727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19" name="Text 17"/>
          <p:cNvSpPr/>
          <p:nvPr/>
        </p:nvSpPr>
        <p:spPr>
          <a:xfrm>
            <a:off x="8266176" y="157276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陷阱类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66176" y="201168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“去厨房把咖啡端来”—— 场地无厨房、机器人无机械臂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66176" y="29077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正确行为＝拒绝并说明依据；“假装执行”或幻觉汇报判零分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67328"/>
            <a:ext cx="2112264" cy="1024128"/>
          </a:xfrm>
          <a:prstGeom prst="roundRect">
            <a:avLst>
              <a:gd name="adj" fmla="val 8036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4048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任务完成度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3504" y="4535424"/>
            <a:ext cx="20025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每题15分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07208" y="3767328"/>
            <a:ext cx="2112264" cy="1024128"/>
          </a:xfrm>
          <a:prstGeom prst="roundRect">
            <a:avLst>
              <a:gd name="adj" fmla="val 8036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07208" y="384048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807208" y="4297680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审计表现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62072" y="4535424"/>
            <a:ext cx="20025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陷阱有据拒绝·汇报核验一致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65776" y="3767328"/>
            <a:ext cx="2112264" cy="1024128"/>
          </a:xfrm>
          <a:prstGeom prst="roundRect">
            <a:avLst>
              <a:gd name="adj" fmla="val 8036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384048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065776" y="4297680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20640" y="4535424"/>
            <a:ext cx="20025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裁判挪动障碍/地标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24344" y="3767328"/>
            <a:ext cx="2112264" cy="1024128"/>
          </a:xfrm>
          <a:prstGeom prst="roundRect">
            <a:avLst>
              <a:gd name="adj" fmla="val 8036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24344" y="384048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24344" y="4297680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用时与流畅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379208" y="4535424"/>
            <a:ext cx="20025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582912" y="3767328"/>
            <a:ext cx="2112264" cy="1024128"/>
          </a:xfrm>
          <a:prstGeom prst="roundRect">
            <a:avLst>
              <a:gd name="adj" fmla="val 8036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82912" y="3840480"/>
            <a:ext cx="21122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8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582912" y="4297680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637776" y="4535424"/>
            <a:ext cx="20025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裁判看得懂界面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48640" y="4974336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每队一次正式机会＋一次不计分试跑；执行中裁判会挪动一个障碍物或地标；VLM编造一处扣5分。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5413248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0E1420"/>
          </a:solidFill>
        </p:spPr>
      </p:sp>
      <p:sp>
        <p:nvSpPr>
          <p:cNvPr id="44" name="Text 42"/>
          <p:cNvSpPr/>
          <p:nvPr/>
        </p:nvSpPr>
        <p:spPr>
          <a:xfrm>
            <a:off x="822960" y="5413248"/>
            <a:ext cx="106070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E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有据拒绝的机器人，比假装执行的机器人得分更高。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73152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世界观奠基：系统的大脑就是AI本身</a:t>
            </a:r>
            <a:endParaRPr sz="2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0" cy="310896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能用，但不能信任</a:t>
            </a:r>
            <a:endParaRPr sz="15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11064240" cy="292608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不是"用AI做工具"，是LLM本身坐在系统最核心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能拆任务＝能用；每步可能编＝不能信任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今天不写LLM代码，但态度必须装进去：用它，但审它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lvl="1"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· 这是本课程和"调API做demo"最根本的区别</a:t>
            </a:r>
            <a:endParaRPr sz="16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11274552" cy="86868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10835640" cy="86868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PingFang SC" panose="020B0400000000000000" charset="-122"/>
                <a:cs typeface="Calibri"/>
              </a:rPr>
              <a:t>▸ 把一个会编造厨房路线的东西放系统核心，靠"能用不能信任"撑住。</a:t>
            </a:r>
            <a:endParaRPr sz="1500" b="1">
              <a:solidFill>
                <a:srgbClr val="FFFFFF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进阶式挑战性综合项目 III · 具身智能系统集成与审计</a:t>
            </a:r>
            <a:endParaRPr sz="95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具身智能导论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感知—决策—动作—验证：一个闭环，一条不变量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481328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9105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看见世界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26080" y="1737360"/>
            <a:ext cx="5303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56432" y="1481328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159105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56432" y="19933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选择行动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33872" y="1737360"/>
            <a:ext cx="5303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64224" y="1481328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59105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64224" y="19933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改变世界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41664" y="1737360"/>
            <a:ext cx="5303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72016" y="1481328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2F5FA"/>
          </a:solidFill>
          <a:ln w="9525">
            <a:solidFill>
              <a:srgbClr val="1E8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2016" y="159105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8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72016" y="19933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核对结果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737360" y="2724912"/>
            <a:ext cx="8714232" cy="0"/>
          </a:xfrm>
          <a:prstGeom prst="line">
            <a:avLst/>
          </a:prstGeom>
          <a:noFill/>
          <a:ln w="15875">
            <a:solidFill>
              <a:srgbClr val="1E8E5A"/>
            </a:solidFill>
            <a:prstDash val="dash"/>
            <a:headEnd type="arrow"/>
          </a:ln>
        </p:spPr>
      </p:sp>
      <p:sp>
        <p:nvSpPr>
          <p:cNvPr id="23" name="Text 21"/>
          <p:cNvSpPr/>
          <p:nvPr/>
        </p:nvSpPr>
        <p:spPr>
          <a:xfrm>
            <a:off x="3108960" y="2798064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E8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验证结果回注，进入下一轮感知 —— 这才叫闭环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45643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范式在打架，共性在闭环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3886200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 端到端 / 世界模型 / LLM＋工具调用……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分歧在“决策”如何实现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共性是：都活在这个闭环里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53912" y="3291840"/>
            <a:ext cx="5486400" cy="233172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45643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本课程的不变量策略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28232" y="3886200"/>
            <a:ext cx="49834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不绑定SOTA：闭环架构＋审计素养＝不变基座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大模型＝可替换“决策组件”：OpenAI兼容接口，DeepSeek / 通义千问 / GLM 任选，可本地轻量模型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学的是：把任何黑盒智能组件安全接入物理系统、并验证其可信性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智能组件可以换，审计基座不能少。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三层具身智能体：实时层保命，计算层干活，认知层思考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2926080" y="1371600"/>
            <a:ext cx="6400800" cy="932688"/>
          </a:xfrm>
          <a:prstGeom prst="roundRect">
            <a:avLst>
              <a:gd name="adj" fmla="val 8824"/>
            </a:avLst>
          </a:prstGeom>
          <a:solidFill>
            <a:srgbClr val="F4F0FF"/>
          </a:solidFill>
          <a:ln w="9525">
            <a:solidFill>
              <a:srgbClr val="644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42646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认知层（云端 / 本地）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4630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6446C8"/>
          </a:solidFill>
        </p:spPr>
      </p:sp>
      <p:sp>
        <p:nvSpPr>
          <p:cNvPr id="10" name="Text 8"/>
          <p:cNvSpPr/>
          <p:nvPr/>
        </p:nvSpPr>
        <p:spPr>
          <a:xfrm>
            <a:off x="7818120" y="14630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可替换组件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27248" y="1737360"/>
            <a:ext cx="29260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644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737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LLM任务规划 · Function Calling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6208" y="1737360"/>
            <a:ext cx="29260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644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737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VLM场景理解 · 图像问答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2304288"/>
            <a:ext cx="0" cy="365760"/>
          </a:xfrm>
          <a:prstGeom prst="line">
            <a:avLst/>
          </a:prstGeom>
          <a:noFill/>
          <a:ln w="19050">
            <a:solidFill>
              <a:srgbClr val="6446C8"/>
            </a:solidFill>
            <a:prstDash val="solid"/>
            <a:headEnd type="arrow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6400800" y="2331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OpenAI兼容API —— 传的是“提案”，不是指令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2670048"/>
            <a:ext cx="6400800" cy="1810512"/>
          </a:xfrm>
          <a:prstGeom prst="roundRect">
            <a:avLst>
              <a:gd name="adj" fmla="val 4545"/>
            </a:avLst>
          </a:prstGeom>
          <a:solidFill>
            <a:srgbClr val="EAF6F7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72491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上位机计算层：树莓派5（8GB · Ubuntu 24.04 · ROS 2）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27248" y="3054096"/>
            <a:ext cx="195681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3054096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云控台后端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Flask+SocketIO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30368" y="3054096"/>
            <a:ext cx="195681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3054096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规划执行器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＋Plan Auditor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33488" y="3054096"/>
            <a:ext cx="1956816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3054096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/ Nav2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(承接S2参数)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27248" y="3767328"/>
            <a:ext cx="3008376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3767328"/>
            <a:ext cx="30083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YOLO检测＋语义地图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81928" y="3767328"/>
            <a:ext cx="3008376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767328"/>
            <a:ext cx="30083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micro-ROS Agent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4572000"/>
            <a:ext cx="0" cy="384048"/>
          </a:xfrm>
          <a:prstGeom prst="line">
            <a:avLst/>
          </a:prstGeom>
          <a:noFill/>
          <a:ln w="19050">
            <a:solidFill>
              <a:srgbClr val="C77F1F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 flipV="1">
            <a:off x="7132320" y="4572000"/>
            <a:ext cx="0" cy="384048"/>
          </a:xfrm>
          <a:prstGeom prst="line">
            <a:avLst/>
          </a:prstGeom>
          <a:noFill/>
          <a:ln w="19050">
            <a:solidFill>
              <a:srgbClr val="C77F1F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3794760" y="462686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/cmd_vel ↓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462686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/odom /imu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240" y="466344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USB串口 · micro-ROS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26080" y="4974336"/>
            <a:ext cx="6400800" cy="868680"/>
          </a:xfrm>
          <a:prstGeom prst="roundRect">
            <a:avLst>
              <a:gd name="adj" fmla="val 9474"/>
            </a:avLst>
          </a:prstGeom>
          <a:solidFill>
            <a:srgbClr val="FBF3E6"/>
          </a:solidFill>
          <a:ln w="9525">
            <a:solidFill>
              <a:srgbClr val="C77F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505663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MCU实时层：S1自建本体（ESP32-S3）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08960" y="5358384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100Hz轮速PID ＋ 运动学里程计 ＋ IMU ＋ 安全限幅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2670048"/>
            <a:ext cx="2103120" cy="1810512"/>
          </a:xfrm>
          <a:prstGeom prst="roundRect">
            <a:avLst>
              <a:gd name="adj" fmla="val 4545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85292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统一云控界面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（浏览器）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56616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自然语言指令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审计面板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51760" y="3575304"/>
            <a:ext cx="274320" cy="0"/>
          </a:xfrm>
          <a:prstGeom prst="line">
            <a:avLst/>
          </a:prstGeom>
          <a:noFill/>
          <a:ln w="15875">
            <a:solidFill>
              <a:srgbClr val="5A6A85"/>
            </a:solidFill>
            <a:prstDash val="solid"/>
            <a:headEnd type="arrow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9646920" y="2761488"/>
            <a:ext cx="1993392" cy="640080"/>
          </a:xfrm>
          <a:prstGeom prst="roundRect">
            <a:avLst>
              <a:gd name="adj" fmla="val 12857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46920" y="2761488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LD19激光雷达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USB转串口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326880" y="3081528"/>
            <a:ext cx="320040" cy="0"/>
          </a:xfrm>
          <a:prstGeom prst="line">
            <a:avLst/>
          </a:prstGeom>
          <a:noFill/>
          <a:ln w="15875">
            <a:solidFill>
              <a:srgbClr val="5A6A85"/>
            </a:solidFill>
            <a:prstDash val="solid"/>
            <a:headEnd type="arrow"/>
          </a:ln>
        </p:spPr>
      </p:sp>
      <p:sp>
        <p:nvSpPr>
          <p:cNvPr id="44" name="Shape 42"/>
          <p:cNvSpPr/>
          <p:nvPr/>
        </p:nvSpPr>
        <p:spPr>
          <a:xfrm>
            <a:off x="9646920" y="3584448"/>
            <a:ext cx="1993392" cy="640080"/>
          </a:xfrm>
          <a:prstGeom prst="roundRect">
            <a:avLst>
              <a:gd name="adj" fmla="val 12857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46920" y="3584448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USB相机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326880" y="3904488"/>
            <a:ext cx="320040" cy="0"/>
          </a:xfrm>
          <a:prstGeom prst="line">
            <a:avLst/>
          </a:prstGeom>
          <a:noFill/>
          <a:ln w="15875">
            <a:solidFill>
              <a:srgbClr val="5A6A85"/>
            </a:solidFill>
            <a:prstDash val="solid"/>
            <a:headEnd type="arrow"/>
          </a:ln>
        </p:spPr>
      </p:sp>
      <p:sp>
        <p:nvSpPr>
          <p:cNvPr id="47" name="Text 45"/>
          <p:cNvSpPr/>
          <p:nvPr/>
        </p:nvSpPr>
        <p:spPr>
          <a:xfrm>
            <a:off x="548640" y="6053328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认知层输出的是“提案”，物理执行权在审计层之后 —— 第8课我们亲手实现这道闸门。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73152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《具身任务审计看板》三层健康度</a:t>
            </a:r>
            <a:endParaRPr sz="2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058400" cy="310896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全学期统一审计输出目标</a:t>
            </a:r>
            <a:endParaRPr sz="15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14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8353" y="414338"/>
            <a:ext cx="323215" cy="177165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PingFang SC" panose="020B0400000000000000" charset="-122"/>
                <a:cs typeface="Calibri"/>
              </a:rPr>
              <a:t>增</a:t>
            </a:r>
            <a:endParaRPr sz="1100" b="1">
              <a:solidFill>
                <a:srgbClr val="FFFFFF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486400" cy="2926080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三格＝三层脑：大脑云端LLM/VLM ｜ 小脑树莓派ROS2 ｜ 脑干ESP32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各组统一界面，第10课接真实数据便于横向对比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▪ 今天点亮的 /odom ＝未来看板"脑干"格的数据源</a:t>
            </a:r>
            <a:endParaRPr sz="18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  <a:p>
            <a:pPr lvl="1"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· 先投影空看板，让学生知道所有动手最终汇到哪</a:t>
            </a:r>
            <a:endParaRPr sz="16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5715000" cy="292608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《具身任务审计看板》三层健康度</a:t>
            </a:r>
            <a:endParaRPr sz="13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2249424"/>
            <a:ext cx="5715000" cy="566928"/>
          </a:xfrm>
          <a:prstGeom prst="roundRect">
            <a:avLst/>
          </a:prstGeom>
          <a:solidFill>
            <a:srgbClr val="E9F5EE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249424"/>
            <a:ext cx="5568696" cy="56692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大脑：云端 LLM/VLM</a:t>
            </a:r>
            <a:endParaRPr sz="12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640" y="2798064"/>
            <a:ext cx="5715000" cy="40233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147F88"/>
                </a:solidFill>
                <a:latin typeface="Calibri"/>
                <a:ea typeface="PingFang SC" panose="020B0400000000000000" charset="-122"/>
                <a:cs typeface="Calibri"/>
              </a:rPr>
              <a:t>↓</a:t>
            </a:r>
            <a:endParaRPr sz="1500" b="1">
              <a:solidFill>
                <a:srgbClr val="147F88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3163824"/>
            <a:ext cx="5715000" cy="566928"/>
          </a:xfrm>
          <a:prstGeom prst="roundRect">
            <a:avLst/>
          </a:prstGeom>
          <a:solidFill>
            <a:srgbClr val="E9F5EE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163824"/>
            <a:ext cx="5568696" cy="56692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小脑：树莓派 ROS2</a:t>
            </a:r>
            <a:endParaRPr sz="12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3640" y="3712464"/>
            <a:ext cx="5715000" cy="40233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147F88"/>
                </a:solidFill>
                <a:latin typeface="Calibri"/>
                <a:ea typeface="PingFang SC" panose="020B0400000000000000" charset="-122"/>
                <a:cs typeface="Calibri"/>
              </a:rPr>
              <a:t>↓</a:t>
            </a:r>
            <a:endParaRPr sz="1500" b="1">
              <a:solidFill>
                <a:srgbClr val="147F88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4078224"/>
            <a:ext cx="5715000" cy="566928"/>
          </a:xfrm>
          <a:prstGeom prst="roundRect">
            <a:avLst/>
          </a:prstGeom>
          <a:solidFill>
            <a:srgbClr val="E9F5EE"/>
          </a:solidFill>
          <a:ln w="12700">
            <a:solidFill>
              <a:srgbClr val="14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4078224"/>
            <a:ext cx="5568696" cy="56692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1A2436"/>
                </a:solidFill>
                <a:latin typeface="Calibri"/>
                <a:ea typeface="PingFang SC" panose="020B0400000000000000" charset="-122"/>
                <a:cs typeface="Calibri"/>
              </a:rPr>
              <a:t>脑干：ESP32（/odom 数据源）</a:t>
            </a:r>
            <a:endParaRPr sz="1200" b="1">
              <a:solidFill>
                <a:srgbClr val="1A2436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4663440"/>
            <a:ext cx="5715000" cy="292608"/>
          </a:xfrm>
          <a:prstGeom prst="rect">
            <a:avLst/>
          </a:prstGeom>
          <a:noFill/>
        </p:spPr>
        <p:txBody>
          <a:bodyPr wrap="square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各组统一界面，第10课接活数据横向对比</a:t>
            </a:r>
            <a:endParaRPr sz="100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74552" cy="86868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29200"/>
            <a:ext cx="10835640" cy="86868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PingFang SC" panose="020B0400000000000000" charset="-122"/>
                <a:cs typeface="Calibri"/>
              </a:rPr>
              <a:t>▸ 所有组的动手，最终都要汇进同一张审计看板。</a:t>
            </a:r>
            <a:endParaRPr sz="1500" b="1">
              <a:solidFill>
                <a:srgbClr val="FFFFFF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6455664"/>
            <a:ext cx="7315200" cy="292608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6B7480"/>
                </a:solidFill>
                <a:latin typeface="Calibri"/>
                <a:ea typeface="PingFang SC" panose="020B0400000000000000" charset="-122"/>
                <a:cs typeface="Calibri"/>
              </a:rPr>
              <a:t>进阶式挑战性综合项目 III · 具身智能系统集成与审计</a:t>
            </a:r>
            <a:endParaRPr sz="950" b="0">
              <a:solidFill>
                <a:srgbClr val="6B7480"/>
              </a:solidFill>
              <a:latin typeface="Calibri"/>
              <a:ea typeface="PingFang SC" panose="020B0400000000000000" charset="-122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为什么这样切层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切层的三把尺子——以及一条保命约束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417320"/>
            <a:ext cx="3538728" cy="2834640"/>
          </a:xfrm>
          <a:prstGeom prst="roundRect">
            <a:avLst>
              <a:gd name="adj" fmla="val 290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727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时延要求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057400"/>
            <a:ext cx="3127248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100Hz轮速闭环、急停：毫秒级 → 只能在MCU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 / 导航：几十毫秒级 → 上位机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语言理解与规划：秒级 → 可以上云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6824" y="1417320"/>
            <a:ext cx="3538728" cy="2834640"/>
          </a:xfrm>
          <a:prstGeom prst="roundRect">
            <a:avLst>
              <a:gd name="adj" fmla="val 290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5727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算力需求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057400"/>
            <a:ext cx="3127248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千亿参数装不进端侧 → 云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SLAM/Nav2/YOLO吃CPU但必须实时 → 树莓派5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PID只要定点运算 → ESP32-S3绰绰有余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5008" y="1417320"/>
            <a:ext cx="3538728" cy="2834640"/>
          </a:xfrm>
          <a:prstGeom prst="roundRect">
            <a:avLst>
              <a:gd name="adj" fmla="val 290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572768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失效影响域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2057400"/>
            <a:ext cx="3127248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认知层挂了：任务失败，车停着不动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计算层挂了：导航停止，底盘限幅仍在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实时层挂了：才会真失控 → 它必须最简单、最稳、离电机最近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0E1420"/>
          </a:solidFill>
        </p:spPr>
      </p:sp>
      <p:sp>
        <p:nvSpPr>
          <p:cNvPr id="17" name="Text 15"/>
          <p:cNvSpPr/>
          <p:nvPr/>
        </p:nvSpPr>
        <p:spPr>
          <a:xfrm>
            <a:off x="822960" y="4526280"/>
            <a:ext cx="106070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E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上位机崩溃时，机器人必须仍然安全。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5650992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这条约束将在第10课（断流冻结）与第11课（断网用例）被反复验收；挑战赛裁判也可能当场制造。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算力预算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树莓派5：先分配，再入住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463040"/>
          <a:ext cx="6949440" cy="3072384"/>
        </p:xfrm>
        <a:graphic>
          <a:graphicData uri="http://schemas.openxmlformats.org/drawingml/2006/table">
            <a:tbl>
              <a:tblPr/>
              <a:tblGrid>
                <a:gridCol w="1965960"/>
                <a:gridCol w="1371600"/>
                <a:gridCol w="1143000"/>
                <a:gridCol w="2468880"/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何时常驻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预算量级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SLAM（slam_toolbox）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建图阶段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大头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建完图切AMCL定位，释放大头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Nav2 导航栈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任务执行全程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多节点常驻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YOLO 检测（320输入）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感知开启时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大头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第5课实测：CPU推理约5FPS量级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云控台后端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Flask+SocketIO，消息节流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系统余量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必须预留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峰值、日志，和你没想到的事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463040"/>
            <a:ext cx="3867912" cy="1965960"/>
          </a:xfrm>
          <a:prstGeom prst="roundRect">
            <a:avLst>
              <a:gd name="adj" fmla="val 4186"/>
            </a:avLst>
          </a:prstGeom>
          <a:solidFill>
            <a:srgbClr val="F4F0FF"/>
          </a:solidFill>
          <a:ln w="9525">
            <a:solidFill>
              <a:srgbClr val="6446C8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7973568" y="1609344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上云的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73568" y="2011680"/>
            <a:ext cx="3474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需要海量知识的：LLM任务规划、VLM场景问答 —— 秒级时延可接受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772400" y="3611880"/>
            <a:ext cx="3867912" cy="1965960"/>
          </a:xfrm>
          <a:prstGeom prst="roundRect">
            <a:avLst>
              <a:gd name="adj" fmla="val 4186"/>
            </a:avLst>
          </a:prstGeom>
          <a:solidFill>
            <a:srgbClr val="EAF6F7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73568" y="3758184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必须在端的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73568" y="4160520"/>
            <a:ext cx="3474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SLAM、Nav2、检测：与安全和时延强相关 —— 断网也得停得住、看得见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80644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BEFE7"/>
          </a:solidFill>
          <a:ln w="9525">
            <a:solidFill>
              <a:srgbClr val="C77F1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806440"/>
            <a:ext cx="10698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账本审计：“装得下”要算出来、测出来，不是感觉出来 —— 第5课拿实测帧率回来对这一页。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四个话题的军令状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481328"/>
          <a:ext cx="11091672" cy="2651760"/>
        </p:xfrm>
        <a:graphic>
          <a:graphicData uri="http://schemas.openxmlformats.org/drawingml/2006/table">
            <a:tbl>
              <a:tblPr/>
              <a:tblGrid>
                <a:gridCol w="1554480"/>
                <a:gridCol w="2423160"/>
                <a:gridCol w="1371600"/>
                <a:gridCol w="1371600"/>
                <a:gridCol w="1600200"/>
                <a:gridCol w="2770632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话题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消息类型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约定频率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实测频率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时间戳单调?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坐标系</a:t>
                      </a:r>
                      <a:endParaRPr lang="en-US" sz="12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/cmd_vel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geometry_msgs/Twist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≤20Hz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/odom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nav_msgs/Odometry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50Hz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odom→base_link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/imu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sensor_msgs/Imu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50Hz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base_link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/scan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Courier New" panose="02070409020205090404" pitchFamily="34" charset="0"/>
                          <a:ea typeface="Courier New" panose="02070409020205090404" pitchFamily="34" charset="-122"/>
                          <a:cs typeface="Courier New" panose="02070409020205090404" pitchFamily="34" charset="-120"/>
                        </a:rPr>
                        <a:t>sensor_msgs/LaserScan</a:t>
                      </a:r>
                      <a:endParaRPr lang="en-US" sz="1150" dirty="0">
                        <a:latin typeface="Courier New" panose="02070409020205090404" pitchFamily="34" charset="0"/>
                        <a:ea typeface="Courier New" panose="02070409020205090404" pitchFamily="34" charset="0"/>
                        <a:cs typeface="Courier New" panose="02070409020205090404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10Hz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____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laser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4340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4531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REP-103 复习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777240" y="4736592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前、y 左、z 上（右手系）—— S1第11课的约定，本学期Nav2靠它吃饭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53912" y="434340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445312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方向也在契约里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82512" y="473659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/cmd_vel 是上位机→MCU 的指令下行（MCU订阅）；其余三个是状态上行（发布）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5778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0E1420"/>
          </a:solidFill>
        </p:spPr>
      </p:sp>
      <p:sp>
        <p:nvSpPr>
          <p:cNvPr id="15" name="Text 12"/>
          <p:cNvSpPr/>
          <p:nvPr/>
        </p:nvSpPr>
        <p:spPr>
          <a:xfrm>
            <a:off x="822960" y="55778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CE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契约不是写出来的，是测出来的。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动手环节 · 共约95分钟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今天的四步：唤醒、复活、签核、画图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4630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9" name="Text 7"/>
          <p:cNvSpPr/>
          <p:nvPr/>
        </p:nvSpPr>
        <p:spPr>
          <a:xfrm>
            <a:off x="658368" y="16459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16459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唤醒上位机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68249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约15分钟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217627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ssh登录 → ros2 doctor 自检 → topic list 应为空。连不上先 ping robot-&lt;组号&gt;.local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14630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15" name="Text 13"/>
          <p:cNvSpPr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16459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复活 S1 本体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22992" y="168249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约25分钟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01384" y="217627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 micro-ROS Agent → /odom /imu 出现 → 雷达经USB转串口临时接入看 /scan → teleop 试遥控（轮子先架空）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611880"/>
            <a:ext cx="457200" cy="457200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21" name="Text 19"/>
          <p:cNvSpPr/>
          <p:nvPr/>
        </p:nvSpPr>
        <p:spPr>
          <a:xfrm>
            <a:off x="658368" y="36118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89888" y="3611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契约实测签核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364845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约30分钟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414223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hz / echo 逐项填表 → 异常当堂定位（波特率 / Agent传输方式 / 固件定时器）并修复 → 组内双人签字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45352" y="34290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611880"/>
            <a:ext cx="457200" cy="457200"/>
          </a:xfrm>
          <a:prstGeom prst="ellipse">
            <a:avLst/>
          </a:prstGeom>
          <a:solidFill>
            <a:srgbClr val="1E8E5A"/>
          </a:solidFill>
        </p:spPr>
      </p:sp>
      <p:sp>
        <p:nvSpPr>
          <p:cNvPr id="27" name="Text 25"/>
          <p:cNvSpPr/>
          <p:nvPr/>
        </p:nvSpPr>
        <p:spPr>
          <a:xfrm>
            <a:off x="6355080" y="36118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611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架构框图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22992" y="364845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8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约15分钟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01384" y="4142232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画你们组的三层图：每个节点归属哪台机器、每条话题从哪流向哪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EFE7"/>
          </a:solidFill>
          <a:ln w="9525">
            <a:solidFill>
              <a:srgbClr val="C77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建议分工：一人操作、一人记录实测值与现象。雷达的正式走线、udev固定命名与一键launch在第2课——今天只求“看得见数据”。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验收清单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下课前，这六个勾一个都不能少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46304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91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07008" y="162763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ros2 doctor 通过，初始 topic list 为空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6824" y="146304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591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65192" y="162763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稳定运行：/odom /imu /scan 全部可见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5008" y="146304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91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23376" y="162763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契约表四行实测频率填齐（含 /cmd_vel）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626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07008" y="299923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时间戳单调性逐项勾验（连续 echo 观测）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06824" y="283464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1416" y="29626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65192" y="299923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teleop 实车受控，急停有效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65008" y="2834640"/>
            <a:ext cx="3538728" cy="1188720"/>
          </a:xfrm>
          <a:prstGeom prst="roundRect">
            <a:avLst>
              <a:gd name="adj" fmla="val 6923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9626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723376" y="2999232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架构框图完成：节点归属＋全部话题流向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3538728" cy="96012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9525">
            <a:solidFill>
              <a:srgbClr val="C77F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55371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874520" y="45537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上位机环境与本体复活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06824" y="4434840"/>
            <a:ext cx="3538728" cy="96012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455371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632704" y="45537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系统架构框图质量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65008" y="4434840"/>
            <a:ext cx="3538728" cy="960120"/>
          </a:xfrm>
          <a:prstGeom prst="roundRect">
            <a:avLst>
              <a:gd name="adj" fmla="val 8571"/>
            </a:avLst>
          </a:prstGeom>
          <a:solidFill>
            <a:srgbClr val="F2F5FA"/>
          </a:solidFill>
          <a:ln w="9525">
            <a:solidFill>
              <a:srgbClr val="6446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455371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390888" y="4553712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《接口契约表》实测签核完整性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签核＝组内两人签字＋每行有实测值。缺实测值的行按未完成计——40%的分数就在这张表上。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全班对账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 · 实测汇总（现场填写）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1463040"/>
          <a:ext cx="11091672" cy="3200400"/>
        </p:xfrm>
        <a:graphic>
          <a:graphicData uri="http://schemas.openxmlformats.org/drawingml/2006/table">
            <a:tbl>
              <a:tblPr/>
              <a:tblGrid>
                <a:gridCol w="1234440"/>
                <a:gridCol w="1691640"/>
                <a:gridCol w="1691640"/>
                <a:gridCol w="1691640"/>
                <a:gridCol w="1783080"/>
                <a:gridCol w="1600200"/>
                <a:gridCol w="1399032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组号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/odom (Hz)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/imu (Hz)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/scan (Hz)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/cmd_vel (Hz)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时间戳单调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签核</a:t>
                      </a:r>
                      <a:endParaRPr lang="en-US" sz="115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G01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G02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G03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G04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G05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5A6A8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…… 续至 G17</a:t>
                      </a: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Microsoft YaHei" pitchFamily="34" charset="0"/>
                        <a:ea typeface="Microsoft YaHei" pitchFamily="34" charset="0"/>
                        <a:cs typeface="Microsoft YaHei" pitchFamily="34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377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65776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看离散度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539496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同一份固件，为什么有组49.8、有组46？波特率、Agent传输方式、USB线质量……这正是下节课“系统性差异 vs 随机差异”的引子。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53912" y="4937760"/>
            <a:ext cx="5486400" cy="1417320"/>
          </a:xfrm>
          <a:prstGeom prst="roundRect">
            <a:avLst>
              <a:gd name="adj" fmla="val 5806"/>
            </a:avLst>
          </a:prstGeom>
          <a:solidFill>
            <a:srgbClr val="F2F5FA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506577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没达标的组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82512" y="539496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报“现象＋定位到哪一步”即可，不丢人；这是台账思维的第一次课堂练习——翻车不丢人，翻车不留数据才丢人。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 ②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复活本体，并让数据自证新鲜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417320"/>
            <a:ext cx="6903720" cy="4224528"/>
          </a:xfrm>
          <a:prstGeom prst="roundRect">
            <a:avLst>
              <a:gd name="adj" fmla="val 1948"/>
            </a:avLst>
          </a:prstGeom>
          <a:solidFill>
            <a:srgbClr val="0E1420"/>
          </a:solidFill>
        </p:spPr>
      </p:sp>
      <p:sp>
        <p:nvSpPr>
          <p:cNvPr id="8" name="Text 6"/>
          <p:cNvSpPr/>
          <p:nvPr/>
        </p:nvSpPr>
        <p:spPr>
          <a:xfrm>
            <a:off x="841248" y="1627632"/>
            <a:ext cx="6446520" cy="3886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05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② 复活S1本体：micro-ROS Agent 在树莓派上运行
</a:t>
            </a:r>
            <a:r>
              <a:rPr lang="en-US" sz="1050" dirty="0">
                <a:solidFill>
                  <a:srgbClr val="E8EEF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ros2 run micro_ros_agent micro_ros_agent serial \
        --dev /dev/ttyACM0 -b 115200
</a:t>
            </a:r>
            <a:r>
              <a:rPr lang="en-US" sz="105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另开终端：验证三大接口
</a:t>
            </a:r>
            <a:r>
              <a:rPr lang="en-US" sz="1050" b="1" dirty="0">
                <a:solidFill>
                  <a:srgbClr val="7CE3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ros2 topic hz   /odom</a:t>
            </a:r>
            <a:r>
              <a:rPr lang="en-US" sz="105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# 期望 ~50Hz
</a:t>
            </a:r>
            <a:r>
              <a:rPr lang="en-US" sz="1050" b="1" dirty="0">
                <a:solidFill>
                  <a:srgbClr val="7CE3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ros2 topic hz   /imu</a:t>
            </a:r>
            <a:r>
              <a:rPr lang="en-US" sz="105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# 期望 ~50Hz
</a:t>
            </a:r>
            <a:r>
              <a:rPr lang="en-US" sz="1050" b="1" dirty="0">
                <a:solidFill>
                  <a:srgbClr val="7CE3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ros2 topic echo /odom --once</a:t>
            </a:r>
            <a:r>
              <a:rPr lang="en-US" sz="105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# 时间戳与坐标系字段
</a:t>
            </a:r>
            <a:r>
              <a:rPr lang="en-US" sz="1050" dirty="0">
                <a:solidFill>
                  <a:srgbClr val="E8EEF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ros2 run teleop_twist_keyboard teleop_twist_keyboard
</a:t>
            </a:r>
            <a:r>
              <a:rPr lang="en-US" sz="105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③ 契约签核：每行必须填实测值
</a:t>
            </a:r>
            <a:r>
              <a:rPr lang="en-US" sz="1050" dirty="0">
                <a:solidFill>
                  <a:srgbClr val="C9D6E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话题      类型                  约定    实测  单调  坐标系</a:t>
            </a:r>
            <a:endParaRPr lang="en-US" sz="10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D6E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/cmd_vel  geometry_msgs/Twist   ≤20Hz  ___   —    —</a:t>
            </a:r>
            <a:endParaRPr lang="en-US" sz="10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D6E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/odom     nav_msgs/Odometry     50Hz   ___   __   odom→base_link</a:t>
            </a:r>
            <a:endParaRPr lang="en-US" sz="10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D6E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/imu      sensor_msgs/Imu       50Hz   ___   __   base_link</a:t>
            </a:r>
            <a:endParaRPr lang="en-US" sz="10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050" dirty="0">
                <a:solidFill>
                  <a:srgbClr val="C9D6E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/scan     sensor_msgs/LaserScan 10Hz   ___   __   laser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0" y="1417320"/>
            <a:ext cx="3959352" cy="1298448"/>
          </a:xfrm>
          <a:prstGeom prst="roundRect">
            <a:avLst>
              <a:gd name="adj" fmla="val 6338"/>
            </a:avLst>
          </a:prstGeom>
          <a:solidFill>
            <a:srgbClr val="F2F5FA"/>
          </a:solidFill>
          <a:ln w="9525">
            <a:solidFill>
              <a:srgbClr val="C77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82128" y="15361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hz ＝ 听心跳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82128" y="1874520"/>
            <a:ext cx="358444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频率达约定吗？波动大不大？遥控时别忘了 /cmd_vel 也要测。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0" y="2880360"/>
            <a:ext cx="3959352" cy="1298448"/>
          </a:xfrm>
          <a:prstGeom prst="roundRect">
            <a:avLst>
              <a:gd name="adj" fmla="val 6338"/>
            </a:avLst>
          </a:prstGeom>
          <a:solidFill>
            <a:srgbClr val="F2F5FA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299923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＝ 验明正身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82128" y="3337560"/>
            <a:ext cx="358444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frame_id 对不对？时间戳在走吗？--once 之后再连续 echo 几秒。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4343400"/>
            <a:ext cx="3959352" cy="1298448"/>
          </a:xfrm>
          <a:prstGeom prst="roundRect">
            <a:avLst>
              <a:gd name="adj" fmla="val 6338"/>
            </a:avLst>
          </a:prstGeom>
          <a:solidFill>
            <a:srgbClr val="F2F5FA"/>
          </a:solidFill>
          <a:ln w="9525">
            <a:solidFill>
              <a:srgbClr val="644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44622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teleop ＝ 第一脚油门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82128" y="4800600"/>
            <a:ext cx="358444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轮子先架空再落地。这是S1的车第一次听树莓派指挥。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833872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BEFE7"/>
          </a:solidFill>
          <a:ln w="9525">
            <a:solidFill>
              <a:srgbClr val="C77F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83387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发现频率不达标或时间戳异常：当堂定位——波特率？Agent传输方式？固件定时器？——修复后重测再签。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唤醒上位机：三条命令的体检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C77F1F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147F88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6446C8"/>
          </a:solidFill>
        </p:spPr>
      </p:sp>
      <p:sp>
        <p:nvSpPr>
          <p:cNvPr id="7" name="Shape 5"/>
          <p:cNvSpPr/>
          <p:nvPr/>
        </p:nvSpPr>
        <p:spPr>
          <a:xfrm>
            <a:off x="548640" y="1463040"/>
            <a:ext cx="6720840" cy="3063240"/>
          </a:xfrm>
          <a:prstGeom prst="roundRect">
            <a:avLst>
              <a:gd name="adj" fmla="val 2687"/>
            </a:avLst>
          </a:prstGeom>
          <a:solidFill>
            <a:srgbClr val="0E1420"/>
          </a:solidFill>
        </p:spPr>
      </p:sp>
      <p:sp>
        <p:nvSpPr>
          <p:cNvPr id="8" name="Text 6"/>
          <p:cNvSpPr/>
          <p:nvPr/>
        </p:nvSpPr>
        <p:spPr>
          <a:xfrm>
            <a:off x="868680" y="1737360"/>
            <a:ext cx="62179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 ① 上位机就绪检查（统一镜像已预装 ROS 2 + 依赖）
</a:t>
            </a:r>
            <a:r>
              <a:rPr lang="en-US" sz="1300" dirty="0">
                <a:solidFill>
                  <a:srgbClr val="E8EEF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ssh pi@robot-&lt;组号&gt;.local
</a:t>
            </a:r>
            <a:r>
              <a:rPr lang="en-US" sz="1300" b="1" dirty="0">
                <a:solidFill>
                  <a:srgbClr val="7CE3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ros2 doctor</a:t>
            </a:r>
            <a:r>
              <a:rPr lang="en-US" sz="130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# 环境自检：平台/网络/中间件
</a:t>
            </a:r>
            <a:r>
              <a:rPr lang="en-US" sz="1300" b="1" dirty="0">
                <a:solidFill>
                  <a:srgbClr val="7CE3A8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ros2 topic list</a:t>
            </a:r>
            <a:r>
              <a:rPr lang="en-US" sz="1300" dirty="0">
                <a:solidFill>
                  <a:srgbClr val="6B7F9E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# 应为空列表（尚未接机器人）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1463040"/>
            <a:ext cx="4142232" cy="950976"/>
          </a:xfrm>
          <a:prstGeom prst="roundRect">
            <a:avLst>
              <a:gd name="adj" fmla="val 8654"/>
            </a:avLst>
          </a:prstGeom>
          <a:solidFill>
            <a:srgbClr val="F2F5FA"/>
          </a:solidFill>
          <a:ln w="9525">
            <a:solidFill>
              <a:srgbClr val="147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9248" y="1545336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F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空列表是好消息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99248" y="1828800"/>
            <a:ext cx="3767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此刻看不到任何话题＝环境干净。若不空：谁在发？镜像残留还是局域网串台？先查清再继续。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2523744"/>
            <a:ext cx="4142232" cy="950976"/>
          </a:xfrm>
          <a:prstGeom prst="roundRect">
            <a:avLst>
              <a:gd name="adj" fmla="val 8654"/>
            </a:avLst>
          </a:prstGeom>
          <a:solidFill>
            <a:srgbClr val="F2F5FA"/>
          </a:solidFill>
          <a:ln w="9525">
            <a:solidFill>
              <a:srgbClr val="C77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9248" y="26060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7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连不上？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99248" y="2889504"/>
            <a:ext cx="3767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ping robot-&lt;组号&gt;.local；再查同网段、网线/WiFi；mDNS偶发抽风时用IP直连。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3584448"/>
            <a:ext cx="4142232" cy="950976"/>
          </a:xfrm>
          <a:prstGeom prst="roundRect">
            <a:avLst>
              <a:gd name="adj" fmla="val 8654"/>
            </a:avLst>
          </a:prstGeom>
          <a:solidFill>
            <a:srgbClr val="F2F5FA"/>
          </a:solidFill>
          <a:ln w="9525">
            <a:solidFill>
              <a:srgbClr val="644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366674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4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体检思维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99248" y="3950208"/>
            <a:ext cx="3767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2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doctor 的输出是环境基线：截图归档进日志目录，将来“怎么突然不行了”就有对照组。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E9F5EE"/>
          </a:solidFill>
          <a:ln w="9525">
            <a:solidFill>
              <a:srgbClr val="1E8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4632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本页所有“正常”都要留下证据 —— 空列表也值得一张截图。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完成标志：doctor 通过 ＋ 空列表截图归档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第1课 · 收束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92840" y="384048"/>
            <a:ext cx="118872" cy="118872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5" name="Shape 3"/>
          <p:cNvSpPr/>
          <p:nvPr/>
        </p:nvSpPr>
        <p:spPr>
          <a:xfrm>
            <a:off x="11512296" y="384048"/>
            <a:ext cx="118872" cy="118872"/>
          </a:xfrm>
          <a:prstGeom prst="ellipse">
            <a:avLst/>
          </a:prstGeom>
          <a:solidFill>
            <a:srgbClr val="3FC1C9"/>
          </a:solidFill>
        </p:spPr>
      </p:sp>
      <p:sp>
        <p:nvSpPr>
          <p:cNvPr id="6" name="Shape 4"/>
          <p:cNvSpPr/>
          <p:nvPr/>
        </p:nvSpPr>
        <p:spPr>
          <a:xfrm>
            <a:off x="11731752" y="384048"/>
            <a:ext cx="118872" cy="118872"/>
          </a:xfrm>
          <a:prstGeom prst="ellipse">
            <a:avLst/>
          </a:prstGeom>
          <a:solidFill>
            <a:srgbClr val="9B7BF5"/>
          </a:solidFill>
        </p:spPr>
      </p:sp>
      <p:sp>
        <p:nvSpPr>
          <p:cNvPr id="7" name="Shape 5"/>
          <p:cNvSpPr/>
          <p:nvPr/>
        </p:nvSpPr>
        <p:spPr>
          <a:xfrm>
            <a:off x="548640" y="155448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1A2436"/>
          </a:solidFill>
          <a:ln w="19050">
            <a:solidFill>
              <a:srgbClr val="9B7B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7393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B7B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先求证，再信任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808" y="226771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对任何黑盒组件——本学期唯一主线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06824" y="155448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1A2436"/>
          </a:solidFill>
          <a:ln w="19050">
            <a:solidFill>
              <a:srgbClr val="3FC1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77393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FC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契约是测出来的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07992" y="226771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约定是“应该”，实测才是“事实”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65008" y="1554480"/>
            <a:ext cx="3538728" cy="1417320"/>
          </a:xfrm>
          <a:prstGeom prst="roundRect">
            <a:avLst>
              <a:gd name="adj" fmla="val 5806"/>
            </a:avLst>
          </a:prstGeom>
          <a:solidFill>
            <a:srgbClr val="1A243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77393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上位机崩了，车仍安全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66176" y="226771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设计宪法第一条·第10/11课反复验收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1A243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383280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下节课 · Sim-to-Real 基线实验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3730752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同一段指令（直行1m→停1s→原地转90°→直行0.5m），孪生里误差贴零——实车会差多少厘米？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E8EE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现在写下你们组的预测（终点误差cm／用时差s），下节课卷尺开奖。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11091672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作业① 《接口契约表》与架构框图归档到组仓库 —— 下节课起，每课开场对表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CA0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作业② 提交 Sim-to-Real 预测值，并带齐 S1 标定参数（轮径/轮距）与 S2 参数导出包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3A141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760720"/>
            <a:ext cx="106070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D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安全预告：下节课装配独立5V/5A供电 —— 严禁把树莓派5接到S1板载mini560上，欠压会让它随机重启。细节第2课讲，今天先记住“严禁”。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5802</Words>
  <Application>WPS Docs</Application>
  <PresentationFormat>On-screen Show (16:9)</PresentationFormat>
  <Paragraphs>647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9" baseType="lpstr">
      <vt:lpstr>Arial</vt:lpstr>
      <vt:lpstr>SimSun</vt:lpstr>
      <vt:lpstr>Wingdings</vt:lpstr>
      <vt:lpstr>Microsoft YaHei</vt:lpstr>
      <vt:lpstr>方正雅意黑 GB18030L2</vt:lpstr>
      <vt:lpstr>Microsoft YaHei</vt:lpstr>
      <vt:lpstr>Microsoft YaHei</vt:lpstr>
      <vt:lpstr>Calibri</vt:lpstr>
      <vt:lpstr>Helvetica Neue</vt:lpstr>
      <vt:lpstr>PingFang SC</vt:lpstr>
      <vt:lpstr>Courier New</vt:lpstr>
      <vt:lpstr>Courier New</vt:lpstr>
      <vt:lpstr>Courier New</vt:lpstr>
      <vt:lpstr>Microsoft YaHei</vt:lpstr>
      <vt:lpstr>等线</vt:lpstr>
      <vt:lpstr>汉仪中等线KW</vt:lpstr>
      <vt:lpstr>Arial Unicode MS</vt:lpstr>
      <vt:lpstr>宋体-简</vt:lpstr>
      <vt:lpstr>Calibri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冯月</cp:lastModifiedBy>
  <cp:revision>12</cp:revision>
  <dcterms:created xsi:type="dcterms:W3CDTF">2026-08-31T04:09:10Z</dcterms:created>
  <dcterms:modified xsi:type="dcterms:W3CDTF">2026-08-31T04:09:10Z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1033-12.1.26055.26055</vt:lpwstr>
  </property>
  <property fmtid="{D5CDD505-2E9C-101B-9397-08002B2CF9AE}" pid="3" name="ICV">
    <vt:lpwstr>80DA6C4D5CAA94ED0635946A0E06B6EE_42</vt:lpwstr>
  </property>
</Properties>
</file>